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  <p:embeddedFont>
      <p:font typeface="Maven Pro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-bold.fntdata"/><Relationship Id="rId25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5ae7d0075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5ae7d0075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5ae7d0075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d5ae7d0075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5ae7d0075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5ae7d0075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5ae7d0075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d5ae7d0075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5ae7d0075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d5ae7d0075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5ae7d0075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d5ae7d0075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5ae7d0075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5ae7d0075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5ae7d0075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d5ae7d0075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5ae7d0075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d5ae7d0075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5ae7d0075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d5ae7d0075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5ae7d0075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d5ae7d0075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5ae7d0075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5ae7d0075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5ae7d0075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5ae7d0075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5ae7d0075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d5ae7d0075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1274000" y="746550"/>
            <a:ext cx="67176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Retail Sales Analysis</a:t>
            </a:r>
            <a:endParaRPr sz="40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2505050" y="27158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Sonam Somarajan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Analyze sales performance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Understand customer behavior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Identify product/category trends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Provide business recommendations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 Overview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Number of records: 1000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Key fields: Gender, age, product category, quantity, total amount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Tool used: Excel, Word, PPT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KPIs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Revenue: 4,56,000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Average Order Value: 456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Quantity: 2514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Customers: 1000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305650" y="770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 Dashboard</a:t>
            </a:r>
            <a:endParaRPr/>
          </a:p>
        </p:txBody>
      </p:sp>
      <p:pic>
        <p:nvPicPr>
          <p:cNvPr id="302" name="Google Shape;302;p17" title="Screenshot 2026-04-13 0925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7300"/>
            <a:ext cx="8806748" cy="419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 Insights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</a:rPr>
              <a:t>Electronics</a:t>
            </a:r>
            <a:r>
              <a:rPr lang="en-GB" sz="1200">
                <a:solidFill>
                  <a:srgbClr val="000000"/>
                </a:solidFill>
              </a:rPr>
              <a:t> was the top revenue category (34.4%), followed closely by Clothing (34.1%) and Beauty (31.5%).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</a:rPr>
              <a:t>Clothing</a:t>
            </a:r>
            <a:r>
              <a:rPr lang="en-GB" sz="1200">
                <a:solidFill>
                  <a:srgbClr val="000000"/>
                </a:solidFill>
              </a:rPr>
              <a:t> had the highest quantity sold, showing strong demand, while Electronics earned more revenue due to higher-priced products.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</a:rPr>
              <a:t>May</a:t>
            </a:r>
            <a:r>
              <a:rPr lang="en-GB" sz="1200">
                <a:solidFill>
                  <a:srgbClr val="000000"/>
                </a:solidFill>
              </a:rPr>
              <a:t> delivered the strongest overall performance in both revenue and sales volume.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</a:rPr>
              <a:t>February</a:t>
            </a:r>
            <a:r>
              <a:rPr lang="en-GB" sz="1200">
                <a:solidFill>
                  <a:srgbClr val="000000"/>
                </a:solidFill>
              </a:rPr>
              <a:t> and </a:t>
            </a:r>
            <a:r>
              <a:rPr b="1" lang="en-GB" sz="1200">
                <a:solidFill>
                  <a:srgbClr val="000000"/>
                </a:solidFill>
              </a:rPr>
              <a:t>December</a:t>
            </a:r>
            <a:r>
              <a:rPr lang="en-GB" sz="1200">
                <a:solidFill>
                  <a:srgbClr val="000000"/>
                </a:solidFill>
              </a:rPr>
              <a:t> generated high revenue with moderate volume, indicating higher-value purchases.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</a:rPr>
              <a:t>September</a:t>
            </a:r>
            <a:r>
              <a:rPr lang="en-GB" sz="1200">
                <a:solidFill>
                  <a:srgbClr val="000000"/>
                </a:solidFill>
              </a:rPr>
              <a:t> recorded the lowest revenue and sales volume, highlighting weaker seasonal demand. 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Recommendations based on Sales analysis</a:t>
            </a:r>
            <a:endParaRPr/>
          </a:p>
        </p:txBody>
      </p:sp>
      <p:sp>
        <p:nvSpPr>
          <p:cNvPr id="314" name="Google Shape;314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Increase promotion of </a:t>
            </a:r>
            <a:r>
              <a:rPr b="1" lang="en-GB" sz="1200">
                <a:solidFill>
                  <a:srgbClr val="000000"/>
                </a:solidFill>
              </a:rPr>
              <a:t>Electronics</a:t>
            </a:r>
            <a:r>
              <a:rPr lang="en-GB" sz="1200">
                <a:solidFill>
                  <a:srgbClr val="000000"/>
                </a:solidFill>
              </a:rPr>
              <a:t> to maximize revenue while maintaining balanced inventory across all categories.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Use </a:t>
            </a:r>
            <a:r>
              <a:rPr b="1" lang="en-GB" sz="1200">
                <a:solidFill>
                  <a:srgbClr val="000000"/>
                </a:solidFill>
              </a:rPr>
              <a:t>Clothing</a:t>
            </a:r>
            <a:r>
              <a:rPr lang="en-GB" sz="1200">
                <a:solidFill>
                  <a:srgbClr val="000000"/>
                </a:solidFill>
              </a:rPr>
              <a:t> as a high-demand category to attract customer traffic and drive repeat purchases.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Analyze top-performing months (</a:t>
            </a:r>
            <a:r>
              <a:rPr b="1" lang="en-GB" sz="1200">
                <a:solidFill>
                  <a:srgbClr val="000000"/>
                </a:solidFill>
              </a:rPr>
              <a:t>February, December</a:t>
            </a:r>
            <a:r>
              <a:rPr lang="en-GB" sz="1200">
                <a:solidFill>
                  <a:srgbClr val="000000"/>
                </a:solidFill>
              </a:rPr>
              <a:t>) to replicate successful sales patterns.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Launch targeted campaigns during low-performing months (</a:t>
            </a:r>
            <a:r>
              <a:rPr b="1" lang="en-GB" sz="1200">
                <a:solidFill>
                  <a:srgbClr val="000000"/>
                </a:solidFill>
              </a:rPr>
              <a:t>September</a:t>
            </a:r>
            <a:r>
              <a:rPr lang="en-GB" sz="1200">
                <a:solidFill>
                  <a:srgbClr val="000000"/>
                </a:solidFill>
              </a:rPr>
              <a:t>) to improve demand and revenue.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272750" y="68025"/>
            <a:ext cx="79356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Customer dashboard</a:t>
            </a:r>
            <a:endParaRPr/>
          </a:p>
        </p:txBody>
      </p:sp>
      <p:pic>
        <p:nvPicPr>
          <p:cNvPr id="320" name="Google Shape;320;p20" title="Screenshot 2026-04-13 0933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9325"/>
            <a:ext cx="8840376" cy="4211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Customer insights</a:t>
            </a:r>
            <a:endParaRPr/>
          </a:p>
        </p:txBody>
      </p:sp>
      <p:sp>
        <p:nvSpPr>
          <p:cNvPr id="326" name="Google Shape;326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Customer base is evenly split by gender, with a slight </a:t>
            </a:r>
            <a:r>
              <a:rPr b="1" lang="en-GB" sz="1200">
                <a:solidFill>
                  <a:srgbClr val="000000"/>
                </a:solidFill>
              </a:rPr>
              <a:t>female majority</a:t>
            </a:r>
            <a:r>
              <a:rPr lang="en-GB" sz="1200">
                <a:solidFill>
                  <a:srgbClr val="000000"/>
                </a:solidFill>
              </a:rPr>
              <a:t>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The </a:t>
            </a:r>
            <a:r>
              <a:rPr b="1" lang="en-GB" sz="1200">
                <a:solidFill>
                  <a:srgbClr val="000000"/>
                </a:solidFill>
              </a:rPr>
              <a:t>50+ age group</a:t>
            </a:r>
            <a:r>
              <a:rPr lang="en-GB" sz="1200">
                <a:solidFill>
                  <a:srgbClr val="000000"/>
                </a:solidFill>
              </a:rPr>
              <a:t> is the most valuable segment, driving the highest revenue and purchase volume, with strong interest in Electronics.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Customers aged </a:t>
            </a:r>
            <a:r>
              <a:rPr b="1" lang="en-GB" sz="1200">
                <a:solidFill>
                  <a:srgbClr val="000000"/>
                </a:solidFill>
              </a:rPr>
              <a:t>30–40</a:t>
            </a:r>
            <a:r>
              <a:rPr lang="en-GB" sz="1200">
                <a:solidFill>
                  <a:srgbClr val="000000"/>
                </a:solidFill>
              </a:rPr>
              <a:t> have the highest average spend per order, indicating higher-value purchases.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</a:rPr>
              <a:t>Female customers</a:t>
            </a:r>
            <a:r>
              <a:rPr lang="en-GB" sz="1200">
                <a:solidFill>
                  <a:srgbClr val="000000"/>
                </a:solidFill>
              </a:rPr>
              <a:t> show slightly higher engagement overall, while males contribute more to Electronics sales.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Younger customers (</a:t>
            </a:r>
            <a:r>
              <a:rPr b="1" lang="en-GB" sz="1200">
                <a:solidFill>
                  <a:srgbClr val="000000"/>
                </a:solidFill>
              </a:rPr>
              <a:t>18–30</a:t>
            </a:r>
            <a:r>
              <a:rPr lang="en-GB" sz="1200">
                <a:solidFill>
                  <a:srgbClr val="000000"/>
                </a:solidFill>
              </a:rPr>
              <a:t>) contribute steadily and prefer Clothing and Beauty products. 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Recommendations based on Cx analysis</a:t>
            </a:r>
            <a:endParaRPr/>
          </a:p>
        </p:txBody>
      </p:sp>
      <p:sp>
        <p:nvSpPr>
          <p:cNvPr id="332" name="Google Shape;332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Target the </a:t>
            </a:r>
            <a:r>
              <a:rPr b="1" lang="en-GB" sz="1200">
                <a:solidFill>
                  <a:srgbClr val="000000"/>
                </a:solidFill>
              </a:rPr>
              <a:t>50+ segment</a:t>
            </a:r>
            <a:r>
              <a:rPr lang="en-GB" sz="1200">
                <a:solidFill>
                  <a:srgbClr val="000000"/>
                </a:solidFill>
              </a:rPr>
              <a:t> with loyalty offers and focused marketing.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Boost repeat purchases from </a:t>
            </a:r>
            <a:r>
              <a:rPr b="1" lang="en-GB" sz="1200">
                <a:solidFill>
                  <a:srgbClr val="000000"/>
                </a:solidFill>
              </a:rPr>
              <a:t>30–40 customers</a:t>
            </a:r>
            <a:r>
              <a:rPr lang="en-GB" sz="1200">
                <a:solidFill>
                  <a:srgbClr val="000000"/>
                </a:solidFill>
              </a:rPr>
              <a:t> through incentives and personalized offers.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Match promotions to preferences: </a:t>
            </a:r>
            <a:r>
              <a:rPr b="1" lang="en-GB" sz="1200">
                <a:solidFill>
                  <a:srgbClr val="000000"/>
                </a:solidFill>
              </a:rPr>
              <a:t>Electronics</a:t>
            </a:r>
            <a:r>
              <a:rPr lang="en-GB" sz="1200">
                <a:solidFill>
                  <a:srgbClr val="000000"/>
                </a:solidFill>
              </a:rPr>
              <a:t> for older customers, </a:t>
            </a:r>
            <a:r>
              <a:rPr b="1" lang="en-GB" sz="1200">
                <a:solidFill>
                  <a:srgbClr val="000000"/>
                </a:solidFill>
              </a:rPr>
              <a:t>Beauty/Clothing</a:t>
            </a:r>
            <a:r>
              <a:rPr lang="en-GB" sz="1200">
                <a:solidFill>
                  <a:srgbClr val="000000"/>
                </a:solidFill>
              </a:rPr>
              <a:t> for younger segments.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Re-engage the </a:t>
            </a:r>
            <a:r>
              <a:rPr b="1" lang="en-GB" sz="1200">
                <a:solidFill>
                  <a:srgbClr val="000000"/>
                </a:solidFill>
              </a:rPr>
              <a:t>40–50 segment</a:t>
            </a:r>
            <a:r>
              <a:rPr lang="en-GB" sz="1200">
                <a:solidFill>
                  <a:srgbClr val="000000"/>
                </a:solidFill>
              </a:rPr>
              <a:t> with discounts and combo deals.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Use </a:t>
            </a:r>
            <a:r>
              <a:rPr b="1" lang="en-GB" sz="1200">
                <a:solidFill>
                  <a:srgbClr val="000000"/>
                </a:solidFill>
              </a:rPr>
              <a:t>cross-selling and upselling</a:t>
            </a:r>
            <a:r>
              <a:rPr lang="en-GB" sz="1200">
                <a:solidFill>
                  <a:srgbClr val="000000"/>
                </a:solidFill>
              </a:rPr>
              <a:t> to increase order value.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Improve retention with rewards programs and personalized engagement.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"/>
          <p:cNvSpPr txBox="1"/>
          <p:nvPr>
            <p:ph type="title"/>
          </p:nvPr>
        </p:nvSpPr>
        <p:spPr>
          <a:xfrm>
            <a:off x="89850" y="680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category dashboard</a:t>
            </a:r>
            <a:endParaRPr/>
          </a:p>
        </p:txBody>
      </p:sp>
      <p:pic>
        <p:nvPicPr>
          <p:cNvPr id="338" name="Google Shape;338;p23" title="Screenshot 2026-04-13 0940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06300"/>
            <a:ext cx="8581951" cy="418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category insights</a:t>
            </a:r>
            <a:endParaRPr/>
          </a:p>
        </p:txBody>
      </p:sp>
      <p:sp>
        <p:nvSpPr>
          <p:cNvPr id="344" name="Google Shape;344;p2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</a:rPr>
              <a:t>Electronics</a:t>
            </a:r>
            <a:r>
              <a:rPr lang="en-GB" sz="1200">
                <a:solidFill>
                  <a:srgbClr val="000000"/>
                </a:solidFill>
              </a:rPr>
              <a:t> drives the highest revenue, reflecting premium pricing despite lower sales volume.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</a:rPr>
              <a:t>Clothing</a:t>
            </a:r>
            <a:r>
              <a:rPr lang="en-GB" sz="1200">
                <a:solidFill>
                  <a:srgbClr val="000000"/>
                </a:solidFill>
              </a:rPr>
              <a:t> leads in quantity sold but contributes less revenue due to lower-priced purchases.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Average order value is fairly similar across categories, with </a:t>
            </a:r>
            <a:r>
              <a:rPr b="1" lang="en-GB" sz="1200">
                <a:solidFill>
                  <a:srgbClr val="000000"/>
                </a:solidFill>
              </a:rPr>
              <a:t>Beauty</a:t>
            </a:r>
            <a:r>
              <a:rPr lang="en-GB" sz="1200">
                <a:solidFill>
                  <a:srgbClr val="000000"/>
                </a:solidFill>
              </a:rPr>
              <a:t> slightly highest.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Customers aged </a:t>
            </a:r>
            <a:r>
              <a:rPr b="1" lang="en-GB" sz="1200">
                <a:solidFill>
                  <a:srgbClr val="000000"/>
                </a:solidFill>
              </a:rPr>
              <a:t>50+</a:t>
            </a:r>
            <a:r>
              <a:rPr lang="en-GB" sz="1200">
                <a:solidFill>
                  <a:srgbClr val="000000"/>
                </a:solidFill>
              </a:rPr>
              <a:t> strongly prefer Electronics, creating a clear targeting opportunity.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Category </a:t>
            </a:r>
            <a:r>
              <a:rPr lang="en-GB"/>
              <a:t>Recommendations</a:t>
            </a:r>
            <a:endParaRPr/>
          </a:p>
        </p:txBody>
      </p:sp>
      <p:sp>
        <p:nvSpPr>
          <p:cNvPr id="350" name="Google Shape;350;p25"/>
          <p:cNvSpPr txBox="1"/>
          <p:nvPr>
            <p:ph idx="1" type="body"/>
          </p:nvPr>
        </p:nvSpPr>
        <p:spPr>
          <a:xfrm>
            <a:off x="1303800" y="1399775"/>
            <a:ext cx="7030500" cy="31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Prioritize </a:t>
            </a:r>
            <a:r>
              <a:rPr b="1" lang="en-GB" sz="1200">
                <a:solidFill>
                  <a:srgbClr val="000000"/>
                </a:solidFill>
              </a:rPr>
              <a:t>Electronics</a:t>
            </a:r>
            <a:r>
              <a:rPr lang="en-GB" sz="1200">
                <a:solidFill>
                  <a:srgbClr val="000000"/>
                </a:solidFill>
              </a:rPr>
              <a:t> with stronger marketing, premium promotions, and reliable stock availability.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Use </a:t>
            </a:r>
            <a:r>
              <a:rPr b="1" lang="en-GB" sz="1200">
                <a:solidFill>
                  <a:srgbClr val="000000"/>
                </a:solidFill>
              </a:rPr>
              <a:t>Clothing</a:t>
            </a:r>
            <a:r>
              <a:rPr lang="en-GB" sz="1200">
                <a:solidFill>
                  <a:srgbClr val="000000"/>
                </a:solidFill>
              </a:rPr>
              <a:t> to attract customers while increasing revenue through bundles and pricing optimization.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Grow </a:t>
            </a:r>
            <a:r>
              <a:rPr b="1" lang="en-GB" sz="1200">
                <a:solidFill>
                  <a:srgbClr val="000000"/>
                </a:solidFill>
              </a:rPr>
              <a:t>Beauty</a:t>
            </a:r>
            <a:r>
              <a:rPr lang="en-GB" sz="1200">
                <a:solidFill>
                  <a:srgbClr val="000000"/>
                </a:solidFill>
              </a:rPr>
              <a:t> through targeted promotions, pricing experiments, and product bundling.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Personalize category campaigns: Electronics for older customers, Clothing/Beauty for younger segments.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Increase order value through </a:t>
            </a:r>
            <a:r>
              <a:rPr b="1" lang="en-GB" sz="1200">
                <a:solidFill>
                  <a:srgbClr val="000000"/>
                </a:solidFill>
              </a:rPr>
              <a:t>cross-selling, combo deals, and smart recommendations</a:t>
            </a:r>
            <a:r>
              <a:rPr lang="en-GB" sz="1200">
                <a:solidFill>
                  <a:srgbClr val="000000"/>
                </a:solidFill>
              </a:rPr>
              <a:t>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Optimize inventory by stocking high-demand items, focusing on high-margin products, and clearing slow-moving stock.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Build a balanced revenue mix by strengthening underperforming categories and reducing reliance on one category.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Summary</a:t>
            </a:r>
            <a:endParaRPr/>
          </a:p>
        </p:txBody>
      </p:sp>
      <p:sp>
        <p:nvSpPr>
          <p:cNvPr id="356" name="Google Shape;356;p2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Revenue reached </a:t>
            </a:r>
            <a:r>
              <a:rPr b="1" lang="en-GB" sz="1200">
                <a:solidFill>
                  <a:srgbClr val="000000"/>
                </a:solidFill>
              </a:rPr>
              <a:t>456,000</a:t>
            </a:r>
            <a:r>
              <a:rPr lang="en-GB" sz="1200">
                <a:solidFill>
                  <a:srgbClr val="000000"/>
                </a:solidFill>
              </a:rPr>
              <a:t> with an average order value of </a:t>
            </a:r>
            <a:r>
              <a:rPr b="1" lang="en-GB" sz="1200">
                <a:solidFill>
                  <a:srgbClr val="000000"/>
                </a:solidFill>
              </a:rPr>
              <a:t>456</a:t>
            </a:r>
            <a:r>
              <a:rPr lang="en-GB" sz="1200">
                <a:solidFill>
                  <a:srgbClr val="000000"/>
                </a:solidFill>
              </a:rPr>
              <a:t>, and </a:t>
            </a:r>
            <a:r>
              <a:rPr b="1" lang="en-GB" sz="1200">
                <a:solidFill>
                  <a:srgbClr val="000000"/>
                </a:solidFill>
              </a:rPr>
              <a:t>2,514 units</a:t>
            </a:r>
            <a:r>
              <a:rPr lang="en-GB" sz="1200">
                <a:solidFill>
                  <a:srgbClr val="000000"/>
                </a:solidFill>
              </a:rPr>
              <a:t> sold.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</a:rPr>
              <a:t>Electronics</a:t>
            </a:r>
            <a:r>
              <a:rPr lang="en-GB" sz="1200">
                <a:solidFill>
                  <a:srgbClr val="000000"/>
                </a:solidFill>
              </a:rPr>
              <a:t> is the top revenue category, while </a:t>
            </a:r>
            <a:r>
              <a:rPr b="1" lang="en-GB" sz="1200">
                <a:solidFill>
                  <a:srgbClr val="000000"/>
                </a:solidFill>
              </a:rPr>
              <a:t>Clothing</a:t>
            </a:r>
            <a:r>
              <a:rPr lang="en-GB" sz="1200">
                <a:solidFill>
                  <a:srgbClr val="000000"/>
                </a:solidFill>
              </a:rPr>
              <a:t> leads in sales volume.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</a:rPr>
              <a:t>Customers aged </a:t>
            </a:r>
            <a:r>
              <a:rPr b="1" lang="en-GB" sz="1200">
                <a:solidFill>
                  <a:srgbClr val="000000"/>
                </a:solidFill>
              </a:rPr>
              <a:t>50+</a:t>
            </a:r>
            <a:r>
              <a:rPr lang="en-GB" sz="1200">
                <a:solidFill>
                  <a:srgbClr val="000000"/>
                </a:solidFill>
              </a:rPr>
              <a:t> contribute the highest overall revenue.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lang="en-GB" sz="1200">
                <a:solidFill>
                  <a:srgbClr val="000000"/>
                </a:solidFill>
              </a:rPr>
              <a:t>Average order value is similar across categories, showing consistent pricing.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lang="en-GB" sz="1200">
                <a:solidFill>
                  <a:srgbClr val="000000"/>
                </a:solidFill>
              </a:rPr>
              <a:t>Focus on Electronics for growth, improve Clothing monetization, and target high-value 50+ customers with personalized marketing. 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224" y="210700"/>
            <a:ext cx="6535550" cy="462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